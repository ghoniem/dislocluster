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7" r:id="rId5"/>
    <p:sldId id="266" r:id="rId6"/>
    <p:sldId id="268" r:id="rId7"/>
    <p:sldId id="264" r:id="rId8"/>
    <p:sldId id="265" r:id="rId9"/>
    <p:sldId id="269" r:id="rId10"/>
    <p:sldId id="270" r:id="rId11"/>
    <p:sldId id="271" r:id="rId12"/>
    <p:sldId id="259" r:id="rId13"/>
    <p:sldId id="260" r:id="rId14"/>
    <p:sldId id="261" r:id="rId15"/>
    <p:sldId id="262" r:id="rId16"/>
    <p:sldId id="26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84" d="100"/>
          <a:sy n="184" d="100"/>
        </p:scale>
        <p:origin x="103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836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D8F51-98F1-A57C-8C97-4AD85022D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B2302-99AD-41B8-1E1F-5A01770BD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499EB-E7AD-04DE-5213-0F6EC3CE6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667D4-224E-B0CA-3436-4EFA56719C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07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87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565A7">
              <a:alpha val="22000"/>
            </a:srgbClr>
          </a:solidFill>
          <a:ln w="12700">
            <a:solidFill>
              <a:srgbClr val="1565A7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RFQ-2185  ·  FLUOR CORPORATION — PROPULSION DIVISION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Kick-Off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8C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Development of a Multiscale Simulation Methodology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A8C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Irradiation-Induced Defect Evolution in Zirconium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74320" y="2560320"/>
            <a:ext cx="4389120" cy="32004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670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Investigators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944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Giacomo Po </a:t>
            </a: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r>
              <a:rPr lang="en-US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Dr. Nasr Ghoniem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Multiscale Modeling Solutions, MMS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45720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3A80C4">
                    <a:alpha val="2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Zr</a:t>
            </a:r>
            <a:endParaRPr lang="en-US" sz="2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OBJECTIVE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multiscale R&amp;D methodology capable of simulating irradiation-induced defect evolution and subsequent deformation behavior in Zirconium alloy systems across multiple time and length scales.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4160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965960"/>
            <a:ext cx="416052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In-Pile Microstructure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3886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Irradiation damage accumulation, dislocation loop nucleation &amp; growth, coupled cluster/dislocation dynamics, and annealing recovery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965960"/>
            <a:ext cx="4160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965960"/>
            <a:ext cx="4160520" cy="384048"/>
          </a:xfrm>
          <a:prstGeom prst="rect">
            <a:avLst/>
          </a:prstGeom>
          <a:solidFill>
            <a:srgbClr val="8B3A0F"/>
          </a:solidFill>
          <a:ln w="12700">
            <a:solidFill>
              <a:srgbClr val="8B3A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Mechanical Deformation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37760" y="2423160"/>
            <a:ext cx="3886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Post-irradiation and in-pile deformation under varied strain rates, temperatures, and neutron flux rates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4434840"/>
            <a:ext cx="8321040" cy="457200"/>
          </a:xfrm>
          <a:prstGeom prst="rect">
            <a:avLst/>
          </a:prstGeom>
          <a:solidFill>
            <a:srgbClr val="0D2346">
              <a:alpha val="90000"/>
            </a:srgbClr>
          </a:solidFill>
          <a:ln w="12700">
            <a:solidFill>
              <a:srgbClr val="0D234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4348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Tool:  "Great White"  —  Spatially-Resolved Cluster Dynamics (CD) + Discrete Dislocation Dynamics (DDD)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"GREAT WHITE" SIMULATION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417320" cy="1417320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0700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Cascade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(MD / BCA)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damage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(PKA)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91640" y="1805940"/>
            <a:ext cx="164592" cy="0"/>
          </a:xfrm>
          <a:prstGeom prst="line">
            <a:avLst/>
          </a:prstGeom>
          <a:noFill/>
          <a:ln w="25400">
            <a:solidFill>
              <a:srgbClr val="0D2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56232" y="1097280"/>
            <a:ext cx="1417320" cy="1417320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01952" y="120700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Cluster Dynamics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01952" y="18745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cluster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 space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73552" y="1805940"/>
            <a:ext cx="164592" cy="0"/>
          </a:xfrm>
          <a:prstGeom prst="line">
            <a:avLst/>
          </a:prstGeom>
          <a:noFill/>
          <a:ln w="25400">
            <a:solidFill>
              <a:srgbClr val="0D2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38144" y="1097280"/>
            <a:ext cx="1417320" cy="141732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83864" y="120700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– Homogeneous CD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83864" y="18745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⟨a⟩ &amp; ⟨c⟩ loop formation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55464" y="1805940"/>
            <a:ext cx="164592" cy="0"/>
          </a:xfrm>
          <a:prstGeom prst="line">
            <a:avLst/>
          </a:prstGeom>
          <a:noFill/>
          <a:ln w="25400">
            <a:solidFill>
              <a:srgbClr val="0D2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0056" y="1097280"/>
            <a:ext cx="1417320" cy="1417320"/>
          </a:xfrm>
          <a:prstGeom prst="rect">
            <a:avLst/>
          </a:prstGeom>
          <a:solidFill>
            <a:srgbClr val="8B3A0F"/>
          </a:solidFill>
          <a:ln w="12700">
            <a:solidFill>
              <a:srgbClr val="8B3A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65776" y="120700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Dislocation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(DDD)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65776" y="18745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&amp; network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37376" y="1805940"/>
            <a:ext cx="164592" cy="0"/>
          </a:xfrm>
          <a:prstGeom prst="line">
            <a:avLst/>
          </a:prstGeom>
          <a:noFill/>
          <a:ln w="25400">
            <a:solidFill>
              <a:srgbClr val="0D2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601968" y="1097280"/>
            <a:ext cx="1417320" cy="1417320"/>
          </a:xfrm>
          <a:prstGeom prst="rect">
            <a:avLst/>
          </a:prstGeom>
          <a:solidFill>
            <a:srgbClr val="8B3A0F"/>
          </a:solidFill>
          <a:ln w="12700">
            <a:solidFill>
              <a:srgbClr val="8B3A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47688" y="120700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47688" y="18745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Yield, hardening,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fields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26517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handles spatial defect fields  ·  DDD handles discrete dislocation segments  ·  Coupling at loop nucleation &amp; growth interfaces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127248"/>
            <a:ext cx="128016" cy="128016"/>
          </a:xfrm>
          <a:prstGeom prst="ellipse">
            <a:avLst/>
          </a:prstGeom>
          <a:solidFill>
            <a:srgbClr val="3A80C4"/>
          </a:solidFill>
          <a:ln w="12700">
            <a:solidFill>
              <a:srgbClr val="3A8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" y="30632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Spatially-resolved defect concentration fields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09160" y="3127248"/>
            <a:ext cx="128016" cy="128016"/>
          </a:xfrm>
          <a:prstGeom prst="ellipse">
            <a:avLst/>
          </a:prstGeom>
          <a:solidFill>
            <a:srgbClr val="3A80C4"/>
          </a:solidFill>
          <a:ln w="12700">
            <a:solidFill>
              <a:srgbClr val="3A8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0328" y="30632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Thermally activated dislocation climb (annealing)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11480" y="3602736"/>
            <a:ext cx="128016" cy="128016"/>
          </a:xfrm>
          <a:prstGeom prst="ellipse">
            <a:avLst/>
          </a:prstGeom>
          <a:solidFill>
            <a:srgbClr val="3A80C4"/>
          </a:solidFill>
          <a:ln w="12700">
            <a:solidFill>
              <a:srgbClr val="3A8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2648" y="35387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&amp; interstitial loop nucleation and growth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709160" y="3602736"/>
            <a:ext cx="128016" cy="128016"/>
          </a:xfrm>
          <a:prstGeom prst="ellipse">
            <a:avLst/>
          </a:prstGeom>
          <a:solidFill>
            <a:srgbClr val="3A80C4"/>
          </a:solidFill>
          <a:ln w="12700">
            <a:solidFill>
              <a:srgbClr val="3A8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10328" y="353872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In-pile &amp; post-irradiation mechanical deformation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11480" y="4078224"/>
            <a:ext cx="128016" cy="128016"/>
          </a:xfrm>
          <a:prstGeom prst="ellipse">
            <a:avLst/>
          </a:prstGeom>
          <a:solidFill>
            <a:srgbClr val="3A80C4"/>
          </a:solidFill>
          <a:ln w="12700">
            <a:solidFill>
              <a:srgbClr val="3A8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2648" y="40142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Loop–loop elastic interactions (loop network formation)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709160" y="4078224"/>
            <a:ext cx="128016" cy="128016"/>
          </a:xfrm>
          <a:prstGeom prst="ellipse">
            <a:avLst/>
          </a:prstGeom>
          <a:solidFill>
            <a:srgbClr val="3A80C4"/>
          </a:solidFill>
          <a:ln w="12700">
            <a:solidFill>
              <a:srgbClr val="3A8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10328" y="40142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TEM and mechanical test data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C3F712-CDD5-0B3C-DF31-03E66A54D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0F3DF6-31A3-8427-5E8B-FEFAE921EC58}"/>
              </a:ext>
            </a:extLst>
          </p:cNvPr>
          <p:cNvSpPr/>
          <p:nvPr/>
        </p:nvSpPr>
        <p:spPr>
          <a:xfrm>
            <a:off x="83127" y="0"/>
            <a:ext cx="9144000" cy="914400"/>
          </a:xfrm>
          <a:prstGeom prst="rect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4768E0E-0637-01A0-BCCA-9C33FB7538EE}"/>
              </a:ext>
            </a:extLst>
          </p:cNvPr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941C9B-C291-878F-7119-600B3D3256C3}"/>
              </a:ext>
            </a:extLst>
          </p:cNvPr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SUMMARY OF EXPERIMENTAL DATA ON ZR MICROSTRUCTURE</a:t>
            </a:r>
            <a:endParaRPr lang="en-US" sz="22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B0C3897-688B-9DD5-0C1A-1345D4134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286" y="1065067"/>
            <a:ext cx="3991841" cy="399184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0B8BDC1-50BA-8441-ED95-929E7234F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10" y="1016618"/>
            <a:ext cx="2124698" cy="213182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94A84F5-66EC-6395-182B-22C2C4F4F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6150" y="1908462"/>
            <a:ext cx="3682329" cy="314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17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2668" y="360045"/>
            <a:ext cx="73307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rPr sz="2400" dirty="0"/>
              <a:t>Typical loop population fractions in irradiated zirconium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91395" y="973982"/>
          <a:ext cx="5966460" cy="3753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4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8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500" dirty="0"/>
                        <a:t>Irradiation regime</a:t>
                      </a:r>
                    </a:p>
                  </a:txBody>
                  <a:tcPr marL="68580" marR="68580" marT="34290" marB="3429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500"/>
                        <a:t>a-loops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500"/>
                        <a:t>(all)</a:t>
                      </a:r>
                    </a:p>
                  </a:txBody>
                  <a:tcPr marL="68580" marR="68580" marT="34290" marB="3429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500"/>
                        <a:t>c-component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500"/>
                        <a:t>basal loops</a:t>
                      </a:r>
                    </a:p>
                  </a:txBody>
                  <a:tcPr marL="68580" marR="68580" marT="34290" marB="3429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500" dirty="0"/>
                        <a:t>a-loop character / habit</a:t>
                      </a:r>
                    </a:p>
                  </a:txBody>
                  <a:tcPr marL="68580" marR="68580" marT="34290" marB="34290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Low dose</a:t>
                      </a:r>
                    </a:p>
                    <a:p>
                      <a:pPr algn="l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(&lt;~0.1 dpa; ~450–600 K)</a:t>
                      </a:r>
                    </a:p>
                  </a:txBody>
                  <a:tcPr marL="41148" marR="41148" marT="20574" marB="20574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~90–100%</a:t>
                      </a:r>
                    </a:p>
                  </a:txBody>
                  <a:tcPr marL="41148" marR="41148" marT="20574" marB="20574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absent to ~5%</a:t>
                      </a:r>
                    </a:p>
                  </a:txBody>
                  <a:tcPr marL="41148" marR="41148" marT="20574" marB="20574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Mostly prismatic / near-prismatic &lt;a&gt; loops</a:t>
                      </a:r>
                    </a:p>
                  </a:txBody>
                  <a:tcPr marL="41148" marR="41148" marT="20574" marB="20574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788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Intermediate dose</a:t>
                      </a:r>
                    </a:p>
                    <a:p>
                      <a:pPr algn="l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(~0.1–1 dpa; ~550–650 K)</a:t>
                      </a:r>
                    </a:p>
                  </a:txBody>
                  <a:tcPr marL="41148" marR="41148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~80–95%</a:t>
                      </a:r>
                    </a:p>
                  </a:txBody>
                  <a:tcPr marL="41148" marR="41148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 dirty="0"/>
                        <a:t>~5–20%</a:t>
                      </a:r>
                    </a:p>
                  </a:txBody>
                  <a:tcPr marL="41148" marR="41148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&lt;a&gt; loops remain mainly prismatic; vacancy fraction may rise</a:t>
                      </a:r>
                    </a:p>
                  </a:txBody>
                  <a:tcPr marL="41148" marR="41148" marT="20574" marB="2057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Higher dose / fluence</a:t>
                      </a:r>
                    </a:p>
                    <a:p>
                      <a:pPr algn="l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(~1–10 dpa; ~600–700 K)</a:t>
                      </a:r>
                    </a:p>
                  </a:txBody>
                  <a:tcPr marL="41148" marR="41148" marT="20574" marB="20574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~65–90%</a:t>
                      </a:r>
                    </a:p>
                  </a:txBody>
                  <a:tcPr marL="41148" marR="41148" marT="20574" marB="20574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~10–35%</a:t>
                      </a:r>
                    </a:p>
                  </a:txBody>
                  <a:tcPr marL="41148" marR="41148" marT="20574" marB="20574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c-component basal vacancy loops become significant</a:t>
                      </a:r>
                    </a:p>
                  </a:txBody>
                  <a:tcPr marL="41148" marR="41148" marT="20574" marB="20574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668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Breakaway-growth regime</a:t>
                      </a:r>
                    </a:p>
                    <a:p>
                      <a:pPr algn="l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(high fluence; alloy-dependent)</a:t>
                      </a:r>
                    </a:p>
                  </a:txBody>
                  <a:tcPr marL="41148" marR="41148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coexisting; often numerous</a:t>
                      </a:r>
                    </a:p>
                  </a:txBody>
                  <a:tcPr marL="41148" marR="41148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important by strain/area contribution</a:t>
                      </a:r>
                    </a:p>
                  </a:txBody>
                  <a:tcPr marL="41148" marR="41148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Basal c-component vacancy loops correlate with accelerated growth</a:t>
                      </a:r>
                    </a:p>
                  </a:txBody>
                  <a:tcPr marL="41148" marR="41148" marT="20574" marB="2057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2668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High-temperature recovery</a:t>
                      </a:r>
                    </a:p>
                    <a:p>
                      <a:pPr algn="l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(&gt;~700 K; condition-dependent)</a:t>
                      </a:r>
                    </a:p>
                  </a:txBody>
                  <a:tcPr marL="41148" marR="41148" marT="20574" marB="20574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density decreases; size coarsens</a:t>
                      </a:r>
                    </a:p>
                  </a:txBody>
                  <a:tcPr marL="41148" marR="41148" marT="20574" marB="20574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/>
                        <a:t>can persist if high fluence</a:t>
                      </a:r>
                    </a:p>
                  </a:txBody>
                  <a:tcPr marL="41148" marR="41148" marT="20574" marB="20574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rPr sz="1200" dirty="0"/>
                        <a:t>Loop coarsening and annealing are important</a:t>
                      </a:r>
                    </a:p>
                  </a:txBody>
                  <a:tcPr marL="41148" marR="41148" marT="20574" marB="20574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716934" y="4834890"/>
            <a:ext cx="23275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rPr sz="750"/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23AD14-02FF-C395-4F43-1B439EF7B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203" y="1100379"/>
            <a:ext cx="4508955" cy="32261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B97662-984A-D4F8-035D-A4F95502B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43" y="1100379"/>
            <a:ext cx="4400649" cy="314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74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E563CE-9C0F-47D9-1E97-E268E152C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2" y="0"/>
            <a:ext cx="70389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03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79354B-A424-3F19-4F1E-F47C667FB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554" y="856919"/>
            <a:ext cx="6458933" cy="428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150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B20E60-57DB-8FB8-3B54-C4BBFC3DD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309" y="2109879"/>
            <a:ext cx="3671002" cy="26171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1CB2E2-6BCD-E65B-4EAB-1EFE7E67B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32" y="943460"/>
            <a:ext cx="4763648" cy="339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812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E0C912-38EA-F43C-34E9-D59B8091D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241" y="317139"/>
            <a:ext cx="7106134" cy="485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19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A33D50-8038-84E6-875E-B8B4EAB0D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38125"/>
            <a:ext cx="75247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065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0A830"/>
          </a:solidFill>
          <a:ln w="12700">
            <a:solidFill>
              <a:srgbClr val="F0A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IN-PILE MICROSTRUCTURE EVOLUTION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Deliverables  ·  6 Milestones  ·  12 Months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2834640" cy="502920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9875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·  Multiscale Simulation Methodology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581912"/>
            <a:ext cx="2651760" cy="292608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5819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D1M1  ·  ~2 mo after award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8328" y="1901952"/>
            <a:ext cx="2606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irradiation damage — spatially resolved CD fields of defect cluster concentrations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273552"/>
            <a:ext cx="2651760" cy="292608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273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D1M2  ·  ~4 mo after award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8328" y="3593592"/>
            <a:ext cx="2606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Dislocation loop growth — nucleation of ⟨a⟩ &amp; ⟨c⟩ loops, discretized into DDD as sessile loops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18688" y="987552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18688" y="987552"/>
            <a:ext cx="2834640" cy="502920"/>
          </a:xfrm>
          <a:prstGeom prst="rect">
            <a:avLst/>
          </a:prstGeom>
          <a:solidFill>
            <a:srgbClr val="3A80C4"/>
          </a:solidFill>
          <a:ln w="12700">
            <a:solidFill>
              <a:srgbClr val="3A8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9875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 ·  Coupled CD–DDD Dynamics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10128" y="1581912"/>
            <a:ext cx="2651760" cy="292608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55848" y="15819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D2M1  ·  ~6 mo after award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28416" y="1901952"/>
            <a:ext cx="2606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 capability demo — loop–loop interactions, connected dislocation network formation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10128" y="3273552"/>
            <a:ext cx="2651760" cy="292608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55848" y="3273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D2M2  ·  ~8 mo after award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28416" y="3593592"/>
            <a:ext cx="2606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loop density, size, and distribution vs. experimental TEM database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08776" y="987552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08776" y="987552"/>
            <a:ext cx="2834640" cy="50292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00216" y="9875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 ·  Annealing &amp; Recovery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0216" y="1581912"/>
            <a:ext cx="2651760" cy="292608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45936" y="15819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D3M1  ·  ~10 mo after award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18504" y="1901952"/>
            <a:ext cx="2606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Post-irradiation annealing — thermally activated diffusion &amp; dislocation climb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0216" y="3273552"/>
            <a:ext cx="2651760" cy="292608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45936" y="3273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D3M2  ·  ~12 mo after award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18504" y="3593592"/>
            <a:ext cx="2606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model validation — dissolution kinetics vs. experimental data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B3A0F"/>
          </a:solidFill>
          <a:ln w="12700">
            <a:solidFill>
              <a:srgbClr val="8B3A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F0A830"/>
          </a:solidFill>
          <a:ln w="12700">
            <a:solidFill>
              <a:srgbClr val="F0A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IRRADIATION EFFECTS ON MECHANICAL DEFORMATION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Deliverables  ·  21 Months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457200"/>
          </a:xfrm>
          <a:prstGeom prst="rect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Benchmark in-pile vs. out-of-pile deformation characteristics of irradiated Zr alloys via multiscale DDD simulations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801368"/>
            <a:ext cx="283464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1801368"/>
            <a:ext cx="2834640" cy="475488"/>
          </a:xfrm>
          <a:prstGeom prst="rect">
            <a:avLst/>
          </a:prstGeom>
          <a:solidFill>
            <a:srgbClr val="9B4020"/>
          </a:solidFill>
          <a:ln w="12700">
            <a:solidFill>
              <a:srgbClr val="9B4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80136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 ·  ~15 months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0208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Post-Irradiation Mechanical Deformation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" y="2487168"/>
            <a:ext cx="100584" cy="100584"/>
          </a:xfrm>
          <a:prstGeom prst="ellipse">
            <a:avLst/>
          </a:prstGeom>
          <a:solidFill>
            <a:srgbClr val="9B4020"/>
          </a:solidFill>
          <a:ln w="12700">
            <a:solidFill>
              <a:srgbClr val="9B4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395728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Phase 1 evolved microstructure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" y="3054096"/>
            <a:ext cx="100584" cy="100584"/>
          </a:xfrm>
          <a:prstGeom prst="ellipse">
            <a:avLst/>
          </a:prstGeom>
          <a:solidFill>
            <a:srgbClr val="9B4020"/>
          </a:solidFill>
          <a:ln w="12700">
            <a:solidFill>
              <a:srgbClr val="9B4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962656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dislocations interact with irradiation loops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" y="3621024"/>
            <a:ext cx="100584" cy="100584"/>
          </a:xfrm>
          <a:prstGeom prst="ellipse">
            <a:avLst/>
          </a:prstGeom>
          <a:solidFill>
            <a:srgbClr val="9B4020"/>
          </a:solidFill>
          <a:ln w="12700">
            <a:solidFill>
              <a:srgbClr val="9B4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529584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Uniaxial loading: single &amp; polycrystalline samples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" y="4187952"/>
            <a:ext cx="100584" cy="100584"/>
          </a:xfrm>
          <a:prstGeom prst="ellipse">
            <a:avLst/>
          </a:prstGeom>
          <a:solidFill>
            <a:srgbClr val="9B4020"/>
          </a:solidFill>
          <a:ln w="12700">
            <a:solidFill>
              <a:srgbClr val="9B4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096512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yield strength, work-hardening, dislocation density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18688" y="1801368"/>
            <a:ext cx="283464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18688" y="1801368"/>
            <a:ext cx="2834640" cy="475488"/>
          </a:xfrm>
          <a:prstGeom prst="rect">
            <a:avLst/>
          </a:prstGeom>
          <a:solidFill>
            <a:srgbClr val="7A3010"/>
          </a:solidFill>
          <a:ln w="12700">
            <a:solidFill>
              <a:srgbClr val="7A3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10128" y="180136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 ·  ~18 months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10128" y="20208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In-Pile Mechanical Deformation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28416" y="2487168"/>
            <a:ext cx="100584" cy="100584"/>
          </a:xfrm>
          <a:prstGeom prst="ellipse">
            <a:avLst/>
          </a:prstGeom>
          <a:solidFill>
            <a:srgbClr val="7A3010"/>
          </a:solidFill>
          <a:ln w="12700">
            <a:solidFill>
              <a:srgbClr val="7A3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93008" y="2395728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at varied strain rates, temperatures, &amp; neutron flux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28416" y="3054096"/>
            <a:ext cx="100584" cy="100584"/>
          </a:xfrm>
          <a:prstGeom prst="ellipse">
            <a:avLst/>
          </a:prstGeom>
          <a:solidFill>
            <a:srgbClr val="7A3010"/>
          </a:solidFill>
          <a:ln w="12700">
            <a:solidFill>
              <a:srgbClr val="7A3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93008" y="2962656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dislocation climb and glide (DDD)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28416" y="3621024"/>
            <a:ext cx="100584" cy="100584"/>
          </a:xfrm>
          <a:prstGeom prst="ellipse">
            <a:avLst/>
          </a:prstGeom>
          <a:solidFill>
            <a:srgbClr val="7A3010"/>
          </a:solidFill>
          <a:ln w="12700">
            <a:solidFill>
              <a:srgbClr val="7A3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93008" y="3529584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in-pile vs. out-of-pile deformation behavior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28416" y="4187952"/>
            <a:ext cx="100584" cy="100584"/>
          </a:xfrm>
          <a:prstGeom prst="ellipse">
            <a:avLst/>
          </a:prstGeom>
          <a:solidFill>
            <a:srgbClr val="7A3010"/>
          </a:solidFill>
          <a:ln w="12700">
            <a:solidFill>
              <a:srgbClr val="7A3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93008" y="4096512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White framework: coupled CD + DDD under load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08776" y="1801368"/>
            <a:ext cx="283464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08776" y="1801368"/>
            <a:ext cx="2834640" cy="475488"/>
          </a:xfrm>
          <a:prstGeom prst="rect">
            <a:avLst/>
          </a:prstGeom>
          <a:solidFill>
            <a:srgbClr val="5A2008"/>
          </a:solidFill>
          <a:ln w="12700">
            <a:solidFill>
              <a:srgbClr val="5A2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00216" y="180136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  ·  ~21 months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00216" y="20208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Code Release &amp; Documentation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18504" y="2487168"/>
            <a:ext cx="100584" cy="100584"/>
          </a:xfrm>
          <a:prstGeom prst="ellipse">
            <a:avLst/>
          </a:prstGeom>
          <a:solidFill>
            <a:srgbClr val="5A2008"/>
          </a:solidFill>
          <a:ln w="12700">
            <a:solidFill>
              <a:srgbClr val="5A2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83096" y="2395728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report: physical model coupling CD + DDD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18504" y="3054096"/>
            <a:ext cx="100584" cy="100584"/>
          </a:xfrm>
          <a:prstGeom prst="ellipse">
            <a:avLst/>
          </a:prstGeom>
          <a:solidFill>
            <a:srgbClr val="5A2008"/>
          </a:solidFill>
          <a:ln w="12700">
            <a:solidFill>
              <a:srgbClr val="5A2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83096" y="2962656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documentation: architecture &amp; inline comments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18504" y="3621024"/>
            <a:ext cx="100584" cy="100584"/>
          </a:xfrm>
          <a:prstGeom prst="ellipse">
            <a:avLst/>
          </a:prstGeom>
          <a:solidFill>
            <a:srgbClr val="5A2008"/>
          </a:solidFill>
          <a:ln w="12700">
            <a:solidFill>
              <a:srgbClr val="5A2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83096" y="3529584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examples reproducing Phase 1 &amp; 2 results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18504" y="4187952"/>
            <a:ext cx="100584" cy="100584"/>
          </a:xfrm>
          <a:prstGeom prst="ellipse">
            <a:avLst/>
          </a:prstGeom>
          <a:solidFill>
            <a:srgbClr val="5A2008"/>
          </a:solidFill>
          <a:ln w="12700">
            <a:solidFill>
              <a:srgbClr val="5A20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83096" y="4096512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tutorials for future NNL use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DELIVERABLES SCHEDULE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640080" cy="320040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86968" y="960120"/>
            <a:ext cx="5029200" cy="320040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9601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34456" y="960120"/>
            <a:ext cx="1280160" cy="320040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80176" y="960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32904" y="960120"/>
            <a:ext cx="1554480" cy="320040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78624" y="960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1280160"/>
            <a:ext cx="640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86968" y="1280160"/>
            <a:ext cx="5029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34456" y="1280160"/>
            <a:ext cx="12801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32904" y="1280160"/>
            <a:ext cx="15544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1280160"/>
            <a:ext cx="640080" cy="33832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" y="1280160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D1M1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1280160"/>
            <a:ext cx="4956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of Initial Irradiation Damage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80176" y="1280160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months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78624" y="1280160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Presentation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1618488"/>
            <a:ext cx="640080" cy="338328"/>
          </a:xfrm>
          <a:prstGeom prst="rect">
            <a:avLst/>
          </a:prstGeom>
          <a:solidFill>
            <a:srgbClr val="EBF2F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6968" y="1618488"/>
            <a:ext cx="5029200" cy="338328"/>
          </a:xfrm>
          <a:prstGeom prst="rect">
            <a:avLst/>
          </a:prstGeom>
          <a:solidFill>
            <a:srgbClr val="EBF2F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34456" y="1618488"/>
            <a:ext cx="1280160" cy="338328"/>
          </a:xfrm>
          <a:prstGeom prst="rect">
            <a:avLst/>
          </a:prstGeom>
          <a:solidFill>
            <a:srgbClr val="EBF2F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232904" y="1618488"/>
            <a:ext cx="1554480" cy="338328"/>
          </a:xfrm>
          <a:prstGeom prst="rect">
            <a:avLst/>
          </a:prstGeom>
          <a:solidFill>
            <a:srgbClr val="EBF2F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" y="1618488"/>
            <a:ext cx="640080" cy="33832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28600" y="1618488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D1M2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1618488"/>
            <a:ext cx="4956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Dislocation Loop Growth Under In-Pile Conditions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0176" y="161848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months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78624" y="1618488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Presentation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1956816"/>
            <a:ext cx="640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86968" y="1956816"/>
            <a:ext cx="5029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934456" y="1956816"/>
            <a:ext cx="12801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232904" y="1956816"/>
            <a:ext cx="15544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28600" y="1956816"/>
            <a:ext cx="640080" cy="33832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28600" y="1956816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D2M1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0120" y="1956816"/>
            <a:ext cx="4956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of Coupled CD–DDD Capability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80176" y="1956816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months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78624" y="1956816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Presentation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2295144"/>
            <a:ext cx="640080" cy="338328"/>
          </a:xfrm>
          <a:prstGeom prst="rect">
            <a:avLst/>
          </a:prstGeom>
          <a:solidFill>
            <a:srgbClr val="EBF2F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86968" y="2295144"/>
            <a:ext cx="5029200" cy="338328"/>
          </a:xfrm>
          <a:prstGeom prst="rect">
            <a:avLst/>
          </a:prstGeom>
          <a:solidFill>
            <a:srgbClr val="EBF2F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934456" y="2295144"/>
            <a:ext cx="1280160" cy="338328"/>
          </a:xfrm>
          <a:prstGeom prst="rect">
            <a:avLst/>
          </a:prstGeom>
          <a:solidFill>
            <a:srgbClr val="EBF2F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232904" y="2295144"/>
            <a:ext cx="1554480" cy="338328"/>
          </a:xfrm>
          <a:prstGeom prst="rect">
            <a:avLst/>
          </a:prstGeom>
          <a:solidFill>
            <a:srgbClr val="EBF2F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28600" y="2295144"/>
            <a:ext cx="640080" cy="33832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28600" y="2295144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D2M2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60120" y="2295144"/>
            <a:ext cx="4956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Against Experimental Microstructure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80176" y="2295144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months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278624" y="2295144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Presentation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28600" y="2633472"/>
            <a:ext cx="640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86968" y="2633472"/>
            <a:ext cx="5029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934456" y="2633472"/>
            <a:ext cx="12801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232904" y="2633472"/>
            <a:ext cx="15544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28600" y="2633472"/>
            <a:ext cx="640080" cy="33832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28600" y="2633472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D3M1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60120" y="2633472"/>
            <a:ext cx="4956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of Post-Irradiation Annealing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980176" y="2633472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months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278624" y="2633472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Presentation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28600" y="2971800"/>
            <a:ext cx="640080" cy="338328"/>
          </a:xfrm>
          <a:prstGeom prst="rect">
            <a:avLst/>
          </a:prstGeom>
          <a:solidFill>
            <a:srgbClr val="EBF2F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86968" y="2971800"/>
            <a:ext cx="5029200" cy="338328"/>
          </a:xfrm>
          <a:prstGeom prst="rect">
            <a:avLst/>
          </a:prstGeom>
          <a:solidFill>
            <a:srgbClr val="EBF2F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934456" y="2971800"/>
            <a:ext cx="1280160" cy="338328"/>
          </a:xfrm>
          <a:prstGeom prst="rect">
            <a:avLst/>
          </a:prstGeom>
          <a:solidFill>
            <a:srgbClr val="EBF2F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232904" y="2971800"/>
            <a:ext cx="1554480" cy="338328"/>
          </a:xfrm>
          <a:prstGeom prst="rect">
            <a:avLst/>
          </a:prstGeom>
          <a:solidFill>
            <a:srgbClr val="EBF2F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28600" y="2971800"/>
            <a:ext cx="640080" cy="33832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28600" y="2971800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D3M2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60120" y="2971800"/>
            <a:ext cx="4956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of Recovery Model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980176" y="2971800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months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278624" y="2971800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Presentation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28600" y="3310128"/>
            <a:ext cx="640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86968" y="3310128"/>
            <a:ext cx="5029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934456" y="3310128"/>
            <a:ext cx="12801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232904" y="3310128"/>
            <a:ext cx="15544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28600" y="3310128"/>
            <a:ext cx="640080" cy="338328"/>
          </a:xfrm>
          <a:prstGeom prst="rect">
            <a:avLst/>
          </a:prstGeom>
          <a:solidFill>
            <a:srgbClr val="8B3A0F"/>
          </a:solidFill>
          <a:ln w="12700">
            <a:solidFill>
              <a:srgbClr val="8B3A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228600" y="3310128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60120" y="3310128"/>
            <a:ext cx="4956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Post-Irradiation Mechanical Deformation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980176" y="331012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months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278624" y="3310128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Presentation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28600" y="3648456"/>
            <a:ext cx="640080" cy="338328"/>
          </a:xfrm>
          <a:prstGeom prst="rect">
            <a:avLst/>
          </a:prstGeom>
          <a:solidFill>
            <a:srgbClr val="EBF2F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886968" y="3648456"/>
            <a:ext cx="5029200" cy="338328"/>
          </a:xfrm>
          <a:prstGeom prst="rect">
            <a:avLst/>
          </a:prstGeom>
          <a:solidFill>
            <a:srgbClr val="EBF2F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5934456" y="3648456"/>
            <a:ext cx="1280160" cy="338328"/>
          </a:xfrm>
          <a:prstGeom prst="rect">
            <a:avLst/>
          </a:prstGeom>
          <a:solidFill>
            <a:srgbClr val="EBF2F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232904" y="3648456"/>
            <a:ext cx="1554480" cy="338328"/>
          </a:xfrm>
          <a:prstGeom prst="rect">
            <a:avLst/>
          </a:prstGeom>
          <a:solidFill>
            <a:srgbClr val="EBF2F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28600" y="3648456"/>
            <a:ext cx="640080" cy="338328"/>
          </a:xfrm>
          <a:prstGeom prst="rect">
            <a:avLst/>
          </a:prstGeom>
          <a:solidFill>
            <a:srgbClr val="8B3A0F"/>
          </a:solidFill>
          <a:ln w="12700">
            <a:solidFill>
              <a:srgbClr val="8B3A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228600" y="3648456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60120" y="3648456"/>
            <a:ext cx="4956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In-Pile Mechanical Deformation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5980176" y="3648456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months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7278624" y="3648456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Presentation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28600" y="3986784"/>
            <a:ext cx="640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886968" y="3986784"/>
            <a:ext cx="5029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5934456" y="3986784"/>
            <a:ext cx="12801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7232904" y="3986784"/>
            <a:ext cx="15544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228600" y="3986784"/>
            <a:ext cx="640080" cy="338328"/>
          </a:xfrm>
          <a:prstGeom prst="rect">
            <a:avLst/>
          </a:prstGeom>
          <a:solidFill>
            <a:srgbClr val="8B3A0F"/>
          </a:solidFill>
          <a:ln w="12700">
            <a:solidFill>
              <a:srgbClr val="8B3A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228600" y="3986784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960120" y="3986784"/>
            <a:ext cx="4956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Code Release &amp; Documentation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5980176" y="3986784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 months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7278624" y="3986784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Presentation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28600" y="4325112"/>
            <a:ext cx="640080" cy="338328"/>
          </a:xfrm>
          <a:prstGeom prst="rect">
            <a:avLst/>
          </a:prstGeom>
          <a:solidFill>
            <a:srgbClr val="FFFBE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886968" y="4325112"/>
            <a:ext cx="5029200" cy="338328"/>
          </a:xfrm>
          <a:prstGeom prst="rect">
            <a:avLst/>
          </a:prstGeom>
          <a:solidFill>
            <a:srgbClr val="FFFBE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5934456" y="4325112"/>
            <a:ext cx="1280160" cy="338328"/>
          </a:xfrm>
          <a:prstGeom prst="rect">
            <a:avLst/>
          </a:prstGeom>
          <a:solidFill>
            <a:srgbClr val="FFFBE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7232904" y="4325112"/>
            <a:ext cx="1554480" cy="338328"/>
          </a:xfrm>
          <a:prstGeom prst="rect">
            <a:avLst/>
          </a:prstGeom>
          <a:solidFill>
            <a:srgbClr val="FFFBEA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228600" y="4325112"/>
            <a:ext cx="640080" cy="338328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228600" y="4325112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MPR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960120" y="4325112"/>
            <a:ext cx="4956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Progress Briefing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5980176" y="4325112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7278624" y="4325112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Slide-based status, schedule &amp; risk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228600" y="4764024"/>
            <a:ext cx="201168" cy="14630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484632" y="47183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1554480" y="4764024"/>
            <a:ext cx="201168" cy="146304"/>
          </a:xfrm>
          <a:prstGeom prst="rect">
            <a:avLst/>
          </a:prstGeom>
          <a:solidFill>
            <a:srgbClr val="8B3A0F"/>
          </a:solidFill>
          <a:ln w="12700">
            <a:solidFill>
              <a:srgbClr val="8B3A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1810512" y="47183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2880360" y="4764024"/>
            <a:ext cx="201168" cy="146304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3136392" y="47183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MANAGEMENT &amp; TEAM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566928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Nasr Ghoniem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Investigator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of Mechanical &amp; Aerospace Engineering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California, Los Angeles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3794760" cy="22860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43784"/>
            <a:ext cx="100584" cy="100584"/>
          </a:xfrm>
          <a:prstGeom prst="ellipse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" y="2761488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quality &amp; scientific direction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300984"/>
            <a:ext cx="100584" cy="100584"/>
          </a:xfrm>
          <a:prstGeom prst="ellipse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" y="3218688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Microstructure &amp; rate theory modeling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100584" cy="100584"/>
          </a:xfrm>
          <a:prstGeom prst="ellipse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" y="3675888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acceptance support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215384"/>
            <a:ext cx="100584" cy="100584"/>
          </a:xfrm>
          <a:prstGeom prst="ellipse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" y="4133088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NNL customer communication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114800" cy="566928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005840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Giacomo Po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892040" y="1316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Investigator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16642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University of Miami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(MoDELib developer)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2304288"/>
            <a:ext cx="3794760" cy="22860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92040" y="2843784"/>
            <a:ext cx="100584" cy="100584"/>
          </a:xfrm>
          <a:prstGeom prst="ellipse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47488" y="2761488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framework development &amp; integration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92040" y="3300984"/>
            <a:ext cx="100584" cy="100584"/>
          </a:xfrm>
          <a:prstGeom prst="ellipse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47488" y="3218688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 CD–DDD Great White code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92040" y="3758184"/>
            <a:ext cx="100584" cy="100584"/>
          </a:xfrm>
          <a:prstGeom prst="ellipse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47488" y="3675888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&amp; documentation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92040" y="4215384"/>
            <a:ext cx="100584" cy="100584"/>
          </a:xfrm>
          <a:prstGeom prst="ellipse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47488" y="4133088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release &amp; tutorials (D6)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solidFill>
            <a:srgbClr val="0D2346">
              <a:alpha val="88000"/>
            </a:srgbClr>
          </a:solidFill>
          <a:ln w="12700">
            <a:solidFill>
              <a:srgbClr val="0D2346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8280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graduate students and research engineers with direct experience in computational defect mechanics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0" y="36576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0" b="1" dirty="0">
                <a:solidFill>
                  <a:srgbClr val="3A80C4">
                    <a:alpha val="1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Zr</a:t>
            </a:r>
            <a:endParaRPr lang="en-US" sz="26000" dirty="0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Forward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3840480" cy="32004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347472" cy="347472"/>
          </a:xfrm>
          <a:prstGeom prst="ellipse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contract award &amp; establish NNL communication channels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347472" cy="347472"/>
          </a:xfrm>
          <a:prstGeom prst="ellipse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21031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parameter baseline for Zr CD model (vacancy &amp; interstitial migration energies)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697480"/>
            <a:ext cx="347472" cy="347472"/>
          </a:xfrm>
          <a:prstGeom prst="ellipse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26974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spatially-resolved CD simulation domain for D1M1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291840"/>
            <a:ext cx="347472" cy="347472"/>
          </a:xfrm>
          <a:prstGeom prst="ellipse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32918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validation dataset for D1M1 (experimental TEM loop data)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886200"/>
            <a:ext cx="347472" cy="347472"/>
          </a:xfrm>
          <a:prstGeom prst="ellipse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" y="3886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D1M1 report &amp; presentation at ~2 months after award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RFQ-2185  ·  Fluor Corporation — Propulsion Division  ·  MMS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1015</Words>
  <Application>Microsoft Office PowerPoint</Application>
  <PresentationFormat>On-screen Show (16:9)</PresentationFormat>
  <Paragraphs>206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RFQ-2185 Kick-Off: Simulation Methodology for Irradiated Zirconium</dc:title>
  <dc:subject>PptxGenJS Presentation</dc:subject>
  <dc:creator>Dr. Nasr Ghoniem / Dr. Giacomo Po</dc:creator>
  <cp:lastModifiedBy>Nasr Ghoniem</cp:lastModifiedBy>
  <cp:revision>5</cp:revision>
  <dcterms:created xsi:type="dcterms:W3CDTF">2026-05-14T22:49:53Z</dcterms:created>
  <dcterms:modified xsi:type="dcterms:W3CDTF">2026-08-16T21:43:03Z</dcterms:modified>
</cp:coreProperties>
</file>